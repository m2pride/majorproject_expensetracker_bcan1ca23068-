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394" r:id="rId2"/>
    <p:sldId id="335" r:id="rId3"/>
    <p:sldId id="395" r:id="rId4"/>
    <p:sldId id="396" r:id="rId5"/>
    <p:sldId id="397" r:id="rId6"/>
    <p:sldId id="398" r:id="rId7"/>
    <p:sldId id="399" r:id="rId8"/>
    <p:sldId id="400" r:id="rId9"/>
    <p:sldId id="401" r:id="rId10"/>
    <p:sldId id="402" r:id="rId11"/>
    <p:sldId id="367" r:id="rId12"/>
  </p:sldIdLst>
  <p:sldSz cx="9144000" cy="6858000" type="screen4x3"/>
  <p:notesSz cx="6858000" cy="9947275"/>
  <p:defaultTextStyle>
    <a:defPPr>
      <a:defRPr lang="en-US"/>
    </a:defPPr>
    <a:lvl1pPr algn="l" defTabSz="457200"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aSHANT" initials="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8BA2"/>
    <a:srgbClr val="F7F5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377" autoAdjust="0"/>
  </p:normalViewPr>
  <p:slideViewPr>
    <p:cSldViewPr>
      <p:cViewPr>
        <p:scale>
          <a:sx n="66" d="100"/>
          <a:sy n="66" d="100"/>
        </p:scale>
        <p:origin x="2940" y="1404"/>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commentAuthors" Target="commentAuthor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97364"/>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6147" name="Rectangle 3"/>
          <p:cNvSpPr>
            <a:spLocks noGrp="1" noChangeArrowheads="1"/>
          </p:cNvSpPr>
          <p:nvPr>
            <p:ph type="dt" idx="1"/>
          </p:nvPr>
        </p:nvSpPr>
        <p:spPr bwMode="auto">
          <a:xfrm>
            <a:off x="3886200" y="0"/>
            <a:ext cx="2971800" cy="497364"/>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ltLang="en-US"/>
          </a:p>
        </p:txBody>
      </p:sp>
      <p:sp>
        <p:nvSpPr>
          <p:cNvPr id="13316" name="Rectangle 4"/>
          <p:cNvSpPr>
            <a:spLocks noGrp="1" noRot="1" noChangeAspect="1" noChangeArrowheads="1" noTextEdit="1"/>
          </p:cNvSpPr>
          <p:nvPr>
            <p:ph type="sldImg" idx="2"/>
          </p:nvPr>
        </p:nvSpPr>
        <p:spPr bwMode="auto">
          <a:xfrm>
            <a:off x="942975" y="746125"/>
            <a:ext cx="4972050" cy="373062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724956"/>
            <a:ext cx="5029200" cy="4476274"/>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150" name="Rectangle 6"/>
          <p:cNvSpPr>
            <a:spLocks noGrp="1" noChangeArrowheads="1"/>
          </p:cNvSpPr>
          <p:nvPr>
            <p:ph type="ftr" sz="quarter" idx="4"/>
          </p:nvPr>
        </p:nvSpPr>
        <p:spPr bwMode="auto">
          <a:xfrm>
            <a:off x="0" y="9449911"/>
            <a:ext cx="2971800" cy="497364"/>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6151" name="Rectangle 7"/>
          <p:cNvSpPr>
            <a:spLocks noGrp="1" noChangeArrowheads="1"/>
          </p:cNvSpPr>
          <p:nvPr>
            <p:ph type="sldNum" sz="quarter" idx="5"/>
          </p:nvPr>
        </p:nvSpPr>
        <p:spPr bwMode="auto">
          <a:xfrm>
            <a:off x="3886200" y="9449911"/>
            <a:ext cx="2971800" cy="497364"/>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7DE0F9D3-6D4B-4012-A6AA-FF841913DD12}" type="slidenum">
              <a:rPr lang="en-US" altLang="en-US"/>
              <a:pPr/>
              <a:t>‹#›</a:t>
            </a:fld>
            <a:endParaRPr lang="en-US" altLang="en-US"/>
          </a:p>
        </p:txBody>
      </p:sp>
    </p:spTree>
    <p:extLst>
      <p:ext uri="{BB962C8B-B14F-4D97-AF65-F5344CB8AC3E}">
        <p14:creationId xmlns:p14="http://schemas.microsoft.com/office/powerpoint/2010/main" val="2416064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4019550" y="1458913"/>
            <a:ext cx="252413" cy="369887"/>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a:latin typeface="Calibri" panose="020F0502020204030204" pitchFamily="34" charset="0"/>
              </a:rPr>
              <a:t>`</a:t>
            </a:r>
          </a:p>
        </p:txBody>
      </p:sp>
      <p:sp>
        <p:nvSpPr>
          <p:cNvPr id="3" name="Date Placeholder 3"/>
          <p:cNvSpPr>
            <a:spLocks noGrp="1"/>
          </p:cNvSpPr>
          <p:nvPr>
            <p:ph type="dt" sz="half" idx="10"/>
          </p:nvPr>
        </p:nvSpPr>
        <p:spPr/>
        <p:txBody>
          <a:bodyPr/>
          <a:lstStyle>
            <a:lvl1pPr>
              <a:defRPr/>
            </a:lvl1pPr>
          </a:lstStyle>
          <a:p>
            <a:pPr>
              <a:defRPr/>
            </a:pPr>
            <a:fld id="{7E4BBC89-1F12-483F-B673-90BB7E7383B5}" type="datetime1">
              <a:rPr lang="en-US" smtClean="0"/>
              <a:pPr>
                <a:defRPr/>
              </a:pPr>
              <a:t>4/19/2026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4491A401-4820-49DC-BFC8-0DF828ACD2CE}"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35947" y="1164772"/>
            <a:ext cx="7475973" cy="525919"/>
          </a:xfrm>
          <a:prstGeom prst="rect">
            <a:avLst/>
          </a:prstGeom>
        </p:spPr>
        <p:txBody>
          <a:bodyPr/>
          <a:lstStyle>
            <a:lvl1pPr algn="ctr">
              <a:defRPr sz="2585" b="1">
                <a:solidFill>
                  <a:schemeClr val="bg1"/>
                </a:solidFill>
                <a:latin typeface="Times" pitchFamily="2" charset="0"/>
              </a:defRPr>
            </a:lvl1pPr>
          </a:lstStyle>
          <a:p>
            <a:r>
              <a:rPr lang="en-US"/>
              <a:t>Click to edit Master title style</a:t>
            </a:r>
            <a:endParaRPr lang="en-US" dirty="0"/>
          </a:p>
        </p:txBody>
      </p:sp>
      <p:sp>
        <p:nvSpPr>
          <p:cNvPr id="3" name="Content Placeholder 2"/>
          <p:cNvSpPr>
            <a:spLocks noGrp="1"/>
          </p:cNvSpPr>
          <p:nvPr>
            <p:ph idx="1"/>
          </p:nvPr>
        </p:nvSpPr>
        <p:spPr>
          <a:xfrm>
            <a:off x="1235947" y="1847852"/>
            <a:ext cx="7475973" cy="4351338"/>
          </a:xfrm>
          <a:prstGeom prst="rect">
            <a:avLst/>
          </a:prstGeom>
        </p:spPr>
        <p:txBody>
          <a:bodyPr/>
          <a:lstStyle>
            <a:lvl1pPr algn="l">
              <a:defRPr>
                <a:solidFill>
                  <a:schemeClr val="bg1"/>
                </a:solidFill>
                <a:latin typeface="Times" pitchFamily="2" charset="0"/>
              </a:defRPr>
            </a:lvl1pPr>
            <a:lvl2pPr algn="l">
              <a:defRPr>
                <a:solidFill>
                  <a:schemeClr val="bg1"/>
                </a:solidFill>
                <a:latin typeface="Times" pitchFamily="2" charset="0"/>
              </a:defRPr>
            </a:lvl2pPr>
            <a:lvl3pPr algn="l">
              <a:defRPr>
                <a:solidFill>
                  <a:schemeClr val="bg1"/>
                </a:solidFill>
                <a:latin typeface="Times" pitchFamily="2" charset="0"/>
              </a:defRPr>
            </a:lvl3pPr>
            <a:lvl4pPr algn="l">
              <a:defRPr>
                <a:solidFill>
                  <a:schemeClr val="bg1"/>
                </a:solidFill>
                <a:latin typeface="Times" pitchFamily="2" charset="0"/>
              </a:defRPr>
            </a:lvl4pPr>
            <a:lvl5pPr algn="l">
              <a:defRPr>
                <a:solidFill>
                  <a:schemeClr val="bg1"/>
                </a:solidFill>
                <a:latin typeface="Times" pitchFamily="2" charset="0"/>
              </a:defRPr>
            </a:lvl5pPr>
          </a:lstStyle>
          <a:p>
            <a:pPr lvl="0"/>
            <a:r>
              <a:rPr lang="en-US" dirty="0"/>
              <a:t>Edit Master text styles</a:t>
            </a:r>
          </a:p>
          <a:p>
            <a:pPr lvl="1"/>
            <a:r>
              <a:rPr lang="en-US" dirty="0"/>
              <a:t>Second </a:t>
            </a:r>
            <a:r>
              <a:rPr lang="en-US" dirty="0" err="1"/>
              <a:t>lNiraj</a:t>
            </a:r>
            <a:r>
              <a:rPr lang="en-US" dirty="0"/>
              <a:t> </a:t>
            </a:r>
            <a:r>
              <a:rPr lang="en-US" dirty="0" err="1"/>
              <a:t>Pathakevel</a:t>
            </a:r>
            <a:endParaRPr lang="en-US" dirty="0"/>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371A0BA3-9713-419C-93EF-978884F9FAF5}" type="datetime1">
              <a:rPr lang="en-US" smtClean="0"/>
              <a:pPr>
                <a:defRPr/>
              </a:pPr>
              <a:t>4/19/2026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76736F7-70D6-4369-9B0D-4EE23F51EE2F}"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709741"/>
            <a:ext cx="7886700" cy="2852737"/>
          </a:xfrm>
          <a:prstGeom prst="rect">
            <a:avLst/>
          </a:prstGeom>
        </p:spPr>
        <p:txBody>
          <a:bodyPr anchor="b"/>
          <a:lstStyle>
            <a:lvl1pPr>
              <a:defRPr sz="5539"/>
            </a:lvl1pPr>
          </a:lstStyle>
          <a:p>
            <a:r>
              <a:rPr lang="en-US"/>
              <a:t>Click to edit Master title style</a:t>
            </a:r>
            <a:endParaRPr lang="en-US" dirty="0"/>
          </a:p>
        </p:txBody>
      </p:sp>
      <p:sp>
        <p:nvSpPr>
          <p:cNvPr id="3" name="Text Placeholder 2"/>
          <p:cNvSpPr>
            <a:spLocks noGrp="1"/>
          </p:cNvSpPr>
          <p:nvPr>
            <p:ph type="body" idx="1"/>
          </p:nvPr>
        </p:nvSpPr>
        <p:spPr>
          <a:xfrm>
            <a:off x="623889" y="4589466"/>
            <a:ext cx="7886700" cy="1500187"/>
          </a:xfrm>
          <a:prstGeom prst="rect">
            <a:avLst/>
          </a:prstGeom>
        </p:spPr>
        <p:txBody>
          <a:bodyPr/>
          <a:lstStyle>
            <a:lvl1pPr marL="0" indent="0">
              <a:buNone/>
              <a:defRPr sz="2215">
                <a:solidFill>
                  <a:schemeClr val="tx1"/>
                </a:solidFill>
              </a:defRPr>
            </a:lvl1pPr>
            <a:lvl2pPr marL="422041" indent="0">
              <a:buNone/>
              <a:defRPr sz="1846">
                <a:solidFill>
                  <a:schemeClr val="tx1">
                    <a:tint val="75000"/>
                  </a:schemeClr>
                </a:solidFill>
              </a:defRPr>
            </a:lvl2pPr>
            <a:lvl3pPr marL="844083" indent="0">
              <a:buNone/>
              <a:defRPr sz="1662">
                <a:solidFill>
                  <a:schemeClr val="tx1">
                    <a:tint val="75000"/>
                  </a:schemeClr>
                </a:solidFill>
              </a:defRPr>
            </a:lvl3pPr>
            <a:lvl4pPr marL="1266124" indent="0">
              <a:buNone/>
              <a:defRPr sz="1477">
                <a:solidFill>
                  <a:schemeClr val="tx1">
                    <a:tint val="75000"/>
                  </a:schemeClr>
                </a:solidFill>
              </a:defRPr>
            </a:lvl4pPr>
            <a:lvl5pPr marL="1688165" indent="0">
              <a:buNone/>
              <a:defRPr sz="1477">
                <a:solidFill>
                  <a:schemeClr val="tx1">
                    <a:tint val="75000"/>
                  </a:schemeClr>
                </a:solidFill>
              </a:defRPr>
            </a:lvl5pPr>
            <a:lvl6pPr marL="2110207" indent="0">
              <a:buNone/>
              <a:defRPr sz="1477">
                <a:solidFill>
                  <a:schemeClr val="tx1">
                    <a:tint val="75000"/>
                  </a:schemeClr>
                </a:solidFill>
              </a:defRPr>
            </a:lvl6pPr>
            <a:lvl7pPr marL="2532248" indent="0">
              <a:buNone/>
              <a:defRPr sz="1477">
                <a:solidFill>
                  <a:schemeClr val="tx1">
                    <a:tint val="75000"/>
                  </a:schemeClr>
                </a:solidFill>
              </a:defRPr>
            </a:lvl7pPr>
            <a:lvl8pPr marL="2954289" indent="0">
              <a:buNone/>
              <a:defRPr sz="1477">
                <a:solidFill>
                  <a:schemeClr val="tx1">
                    <a:tint val="75000"/>
                  </a:schemeClr>
                </a:solidFill>
              </a:defRPr>
            </a:lvl8pPr>
            <a:lvl9pPr marL="3376331" indent="0">
              <a:buNone/>
              <a:defRPr sz="147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AA16DC9B-C19C-4867-9DA4-2BC3BB976BD8}" type="datetime1">
              <a:rPr lang="en-US" smtClean="0"/>
              <a:pPr>
                <a:defRPr/>
              </a:pPr>
              <a:t>4/19/2026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B081EE3-3721-413B-B717-787892CDD99A}"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8"/>
            <a:ext cx="78867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D0CFC-BD4E-4C79-A081-4D095D1D4B4A}" type="datetime1">
              <a:rPr lang="en-US" smtClean="0"/>
              <a:pPr>
                <a:defRPr/>
              </a:pPr>
              <a:t>4/19/2026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83FA0635-D591-4E5A-B08C-169FA66F48AA}"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8"/>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4178566-FB67-4EB2-BC25-0F063341B8D5}" type="datetime1">
              <a:rPr lang="en-US" smtClean="0"/>
              <a:pPr>
                <a:defRPr/>
              </a:pPr>
              <a:t>4/19/2026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67353ED2-7413-4C43-8D78-788875B717F3}"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8"/>
            <a:ext cx="7886700" cy="1325563"/>
          </a:xfrm>
          <a:prstGeom prst="rect">
            <a:avLst/>
          </a:prstGeom>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11A4258B-146A-436E-A7F0-3515E5261B2C}" type="datetime1">
              <a:rPr lang="en-US" smtClean="0"/>
              <a:pPr>
                <a:defRPr/>
              </a:pPr>
              <a:t>4/19/2026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509669B2-2E04-4A16-BBB6-AA5E1F9D5061}"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73B9E-807D-4512-AFC0-C4CC61C832B5}" type="datetime1">
              <a:rPr lang="en-US" smtClean="0"/>
              <a:pPr>
                <a:defRPr/>
              </a:pPr>
              <a:t>4/19/2026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0D9CCDE9-B530-4CBD-91FB-868C68811658}"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0"/>
            <a:ext cx="2949178" cy="1600200"/>
          </a:xfrm>
          <a:prstGeom prst="rect">
            <a:avLst/>
          </a:prstGeom>
        </p:spPr>
        <p:txBody>
          <a:bodyPr anchor="b"/>
          <a:lstStyle>
            <a:lvl1pPr>
              <a:defRPr sz="2954"/>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a:prstGeom prst="rect">
            <a:avLst/>
          </a:prstGeo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2" y="2057400"/>
            <a:ext cx="2949178" cy="3811588"/>
          </a:xfrm>
          <a:prstGeom prst="rect">
            <a:avLst/>
          </a:prstGeom>
        </p:spPr>
        <p:txBody>
          <a:bodyPr/>
          <a:lstStyle>
            <a:lvl1pPr marL="0" indent="0">
              <a:buNone/>
              <a:defRPr sz="1477"/>
            </a:lvl1pPr>
            <a:lvl2pPr marL="422041" indent="0">
              <a:buNone/>
              <a:defRPr sz="1292"/>
            </a:lvl2pPr>
            <a:lvl3pPr marL="844083" indent="0">
              <a:buNone/>
              <a:defRPr sz="1108"/>
            </a:lvl3pPr>
            <a:lvl4pPr marL="1266124" indent="0">
              <a:buNone/>
              <a:defRPr sz="923"/>
            </a:lvl4pPr>
            <a:lvl5pPr marL="1688165" indent="0">
              <a:buNone/>
              <a:defRPr sz="923"/>
            </a:lvl5pPr>
            <a:lvl6pPr marL="2110207" indent="0">
              <a:buNone/>
              <a:defRPr sz="923"/>
            </a:lvl6pPr>
            <a:lvl7pPr marL="2532248" indent="0">
              <a:buNone/>
              <a:defRPr sz="923"/>
            </a:lvl7pPr>
            <a:lvl8pPr marL="2954289" indent="0">
              <a:buNone/>
              <a:defRPr sz="923"/>
            </a:lvl8pPr>
            <a:lvl9pPr marL="3376331" indent="0">
              <a:buNone/>
              <a:defRPr sz="923"/>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AB892B7-0B12-49BA-BD37-DA828196C6DF}" type="datetime1">
              <a:rPr lang="en-US" smtClean="0"/>
              <a:pPr>
                <a:defRPr/>
              </a:pPr>
              <a:t>4/19/2026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CB07AF5-288A-4C5E-A45A-B984612E1DDD}"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0"/>
            <a:ext cx="2949178" cy="1600200"/>
          </a:xfrm>
          <a:prstGeom prst="rect">
            <a:avLst/>
          </a:prstGeom>
        </p:spPr>
        <p:txBody>
          <a:bodyPr anchor="b"/>
          <a:lstStyle>
            <a:lvl1pPr>
              <a:defRPr sz="2954"/>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a:prstGeom prst="rect">
            <a:avLst/>
          </a:prstGeom>
        </p:spPr>
        <p:txBody>
          <a:bodyPr rtlCol="0">
            <a:normAutofit/>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2" y="2057400"/>
            <a:ext cx="2949178" cy="3811588"/>
          </a:xfrm>
          <a:prstGeom prst="rect">
            <a:avLst/>
          </a:prstGeom>
        </p:spPr>
        <p:txBody>
          <a:bodyPr/>
          <a:lstStyle>
            <a:lvl1pPr marL="0" indent="0">
              <a:buNone/>
              <a:defRPr sz="1477"/>
            </a:lvl1pPr>
            <a:lvl2pPr marL="422041" indent="0">
              <a:buNone/>
              <a:defRPr sz="1292"/>
            </a:lvl2pPr>
            <a:lvl3pPr marL="844083" indent="0">
              <a:buNone/>
              <a:defRPr sz="1108"/>
            </a:lvl3pPr>
            <a:lvl4pPr marL="1266124" indent="0">
              <a:buNone/>
              <a:defRPr sz="923"/>
            </a:lvl4pPr>
            <a:lvl5pPr marL="1688165" indent="0">
              <a:buNone/>
              <a:defRPr sz="923"/>
            </a:lvl5pPr>
            <a:lvl6pPr marL="2110207" indent="0">
              <a:buNone/>
              <a:defRPr sz="923"/>
            </a:lvl6pPr>
            <a:lvl7pPr marL="2532248" indent="0">
              <a:buNone/>
              <a:defRPr sz="923"/>
            </a:lvl7pPr>
            <a:lvl8pPr marL="2954289" indent="0">
              <a:buNone/>
              <a:defRPr sz="923"/>
            </a:lvl8pPr>
            <a:lvl9pPr marL="3376331" indent="0">
              <a:buNone/>
              <a:defRPr sz="923"/>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822B6B18-5DB6-431F-8C7C-580DFB8D13DB}" type="datetime1">
              <a:rPr lang="en-US" smtClean="0"/>
              <a:pPr>
                <a:defRPr/>
              </a:pPr>
              <a:t>4/19/2026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C8468E8-1507-4232-B1CA-F6C7F3700F24}"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8"/>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1"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F678295-A050-436B-B3E7-B040BF4EFFFA}" type="datetime1">
              <a:rPr lang="en-US" smtClean="0"/>
              <a:pPr>
                <a:defRPr/>
              </a:pPr>
              <a:t>4/19/2026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EB8907C-4B05-470D-9A4C-904884F1E38F}"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ABF7DA1-43E2-4DCE-B6BA-07B0FDF28B9B}" type="datetime1">
              <a:rPr lang="en-US" smtClean="0"/>
              <a:pPr>
                <a:defRPr/>
              </a:pPr>
              <a:t>4/19/2026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E47C490-8FF1-4961-A5A9-FC624E0C183A}"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Placeholder 2"/>
          <p:cNvSpPr>
            <a:spLocks noGrp="1" noChangeArrowheads="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108">
                <a:solidFill>
                  <a:schemeClr val="tx1">
                    <a:tint val="75000"/>
                  </a:schemeClr>
                </a:solidFill>
                <a:latin typeface="+mn-lt"/>
                <a:cs typeface="+mn-cs"/>
              </a:defRPr>
            </a:lvl1pPr>
          </a:lstStyle>
          <a:p>
            <a:pPr>
              <a:defRPr/>
            </a:pPr>
            <a:fld id="{16ADD461-F7D2-4A9C-9291-C997798B84FE}" type="datetime1">
              <a:rPr lang="en-US" smtClean="0"/>
              <a:pPr>
                <a:defRPr/>
              </a:pPr>
              <a:t>4/19/2026</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108">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a:solidFill>
                  <a:srgbClr val="FFFFFF"/>
                </a:solidFill>
              </a:defRPr>
            </a:lvl1pPr>
          </a:lstStyle>
          <a:p>
            <a:fld id="{08583F0E-CBF4-46D0-8ECE-DFE1828DD16F}" type="slidenum">
              <a:rPr lang="en-US" altLang="en-US"/>
              <a:pPr/>
              <a:t>‹#›</a:t>
            </a:fld>
            <a:endParaRPr lang="en-US" altLang="en-US"/>
          </a:p>
        </p:txBody>
      </p:sp>
      <p:cxnSp>
        <p:nvCxnSpPr>
          <p:cNvPr id="7" name="Straight Connector 6"/>
          <p:cNvCxnSpPr/>
          <p:nvPr userDrawn="1"/>
        </p:nvCxnSpPr>
        <p:spPr>
          <a:xfrm>
            <a:off x="1249363" y="1736725"/>
            <a:ext cx="7469187" cy="0"/>
          </a:xfrm>
          <a:prstGeom prst="line">
            <a:avLst/>
          </a:prstGeom>
        </p:spPr>
        <p:style>
          <a:lnRef idx="3">
            <a:schemeClr val="accent2"/>
          </a:lnRef>
          <a:fillRef idx="0">
            <a:schemeClr val="accent2"/>
          </a:fillRef>
          <a:effectRef idx="2">
            <a:schemeClr val="accent2"/>
          </a:effectRef>
          <a:fontRef idx="minor">
            <a:schemeClr val="tx1"/>
          </a:fontRef>
        </p:style>
      </p:cxnSp>
    </p:spTree>
  </p:cSld>
  <p:clrMap bg1="dk1" tx1="lt1" bg2="dk2" tx2="lt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Lst>
  <p:hf hdr="0" ftr="0" dt="0"/>
  <p:txStyles>
    <p:titleStyle>
      <a:lvl1pPr algn="l" rtl="0" eaLnBrk="0" fontAlgn="base" hangingPunct="0">
        <a:lnSpc>
          <a:spcPct val="90000"/>
        </a:lnSpc>
        <a:spcBef>
          <a:spcPct val="0"/>
        </a:spcBef>
        <a:spcAft>
          <a:spcPct val="0"/>
        </a:spcAft>
        <a:defRPr sz="4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000">
          <a:solidFill>
            <a:schemeClr val="tx1"/>
          </a:solidFill>
          <a:latin typeface="Calibri Light" pitchFamily="34" charset="0"/>
        </a:defRPr>
      </a:lvl2pPr>
      <a:lvl3pPr algn="l" rtl="0" eaLnBrk="0" fontAlgn="base" hangingPunct="0">
        <a:lnSpc>
          <a:spcPct val="90000"/>
        </a:lnSpc>
        <a:spcBef>
          <a:spcPct val="0"/>
        </a:spcBef>
        <a:spcAft>
          <a:spcPct val="0"/>
        </a:spcAft>
        <a:defRPr sz="4000">
          <a:solidFill>
            <a:schemeClr val="tx1"/>
          </a:solidFill>
          <a:latin typeface="Calibri Light" pitchFamily="34" charset="0"/>
        </a:defRPr>
      </a:lvl3pPr>
      <a:lvl4pPr algn="l" rtl="0" eaLnBrk="0" fontAlgn="base" hangingPunct="0">
        <a:lnSpc>
          <a:spcPct val="90000"/>
        </a:lnSpc>
        <a:spcBef>
          <a:spcPct val="0"/>
        </a:spcBef>
        <a:spcAft>
          <a:spcPct val="0"/>
        </a:spcAft>
        <a:defRPr sz="4000">
          <a:solidFill>
            <a:schemeClr val="tx1"/>
          </a:solidFill>
          <a:latin typeface="Calibri Light" pitchFamily="34" charset="0"/>
        </a:defRPr>
      </a:lvl4pPr>
      <a:lvl5pPr algn="l" rtl="0" eaLnBrk="0" fontAlgn="base" hangingPunct="0">
        <a:lnSpc>
          <a:spcPct val="90000"/>
        </a:lnSpc>
        <a:spcBef>
          <a:spcPct val="0"/>
        </a:spcBef>
        <a:spcAft>
          <a:spcPct val="0"/>
        </a:spcAft>
        <a:defRPr sz="4000">
          <a:solidFill>
            <a:schemeClr val="tx1"/>
          </a:solidFill>
          <a:latin typeface="Calibri Light" pitchFamily="34" charset="0"/>
        </a:defRPr>
      </a:lvl5pPr>
      <a:lvl6pPr marL="422041" algn="l" rtl="0" fontAlgn="base">
        <a:lnSpc>
          <a:spcPct val="90000"/>
        </a:lnSpc>
        <a:spcBef>
          <a:spcPct val="0"/>
        </a:spcBef>
        <a:spcAft>
          <a:spcPct val="0"/>
        </a:spcAft>
        <a:defRPr sz="4062">
          <a:solidFill>
            <a:schemeClr val="tx1"/>
          </a:solidFill>
          <a:latin typeface="Calibri Light" pitchFamily="34" charset="0"/>
        </a:defRPr>
      </a:lvl6pPr>
      <a:lvl7pPr marL="844083" algn="l" rtl="0" fontAlgn="base">
        <a:lnSpc>
          <a:spcPct val="90000"/>
        </a:lnSpc>
        <a:spcBef>
          <a:spcPct val="0"/>
        </a:spcBef>
        <a:spcAft>
          <a:spcPct val="0"/>
        </a:spcAft>
        <a:defRPr sz="4062">
          <a:solidFill>
            <a:schemeClr val="tx1"/>
          </a:solidFill>
          <a:latin typeface="Calibri Light" pitchFamily="34" charset="0"/>
        </a:defRPr>
      </a:lvl7pPr>
      <a:lvl8pPr marL="1266124" algn="l" rtl="0" fontAlgn="base">
        <a:lnSpc>
          <a:spcPct val="90000"/>
        </a:lnSpc>
        <a:spcBef>
          <a:spcPct val="0"/>
        </a:spcBef>
        <a:spcAft>
          <a:spcPct val="0"/>
        </a:spcAft>
        <a:defRPr sz="4062">
          <a:solidFill>
            <a:schemeClr val="tx1"/>
          </a:solidFill>
          <a:latin typeface="Calibri Light" pitchFamily="34" charset="0"/>
        </a:defRPr>
      </a:lvl8pPr>
      <a:lvl9pPr marL="1688165" algn="l" rtl="0" fontAlgn="base">
        <a:lnSpc>
          <a:spcPct val="90000"/>
        </a:lnSpc>
        <a:spcBef>
          <a:spcPct val="0"/>
        </a:spcBef>
        <a:spcAft>
          <a:spcPct val="0"/>
        </a:spcAft>
        <a:defRPr sz="4062">
          <a:solidFill>
            <a:schemeClr val="tx1"/>
          </a:solidFill>
          <a:latin typeface="Calibri Light" pitchFamily="34" charset="0"/>
        </a:defRPr>
      </a:lvl9pPr>
    </p:titleStyle>
    <p:bodyStyle>
      <a:lvl1pPr marL="209550" indent="-209550" algn="l" rtl="0" eaLnBrk="0" fontAlgn="base" hangingPunct="0">
        <a:lnSpc>
          <a:spcPct val="90000"/>
        </a:lnSpc>
        <a:spcBef>
          <a:spcPts val="925"/>
        </a:spcBef>
        <a:spcAft>
          <a:spcPct val="0"/>
        </a:spcAft>
        <a:buFont typeface="Arial" pitchFamily="34" charset="0"/>
        <a:buChar char="•"/>
        <a:defRPr sz="2500" kern="1200">
          <a:solidFill>
            <a:schemeClr val="tx1"/>
          </a:solidFill>
          <a:latin typeface="+mn-lt"/>
          <a:ea typeface="+mn-ea"/>
          <a:cs typeface="+mn-cs"/>
        </a:defRPr>
      </a:lvl1pPr>
      <a:lvl2pPr marL="631825" indent="-209550" algn="l" rtl="0" eaLnBrk="0" fontAlgn="base" hangingPunct="0">
        <a:lnSpc>
          <a:spcPct val="90000"/>
        </a:lnSpc>
        <a:spcBef>
          <a:spcPts val="463"/>
        </a:spcBef>
        <a:spcAft>
          <a:spcPct val="0"/>
        </a:spcAft>
        <a:buFont typeface="Arial" pitchFamily="34" charset="0"/>
        <a:buChar char="•"/>
        <a:defRPr sz="2200" kern="1200">
          <a:solidFill>
            <a:schemeClr val="tx1"/>
          </a:solidFill>
          <a:latin typeface="+mn-lt"/>
          <a:ea typeface="+mn-ea"/>
          <a:cs typeface="+mn-cs"/>
        </a:defRPr>
      </a:lvl2pPr>
      <a:lvl3pPr marL="1054100" indent="-209550" algn="l" rtl="0" eaLnBrk="0" fontAlgn="base" hangingPunct="0">
        <a:lnSpc>
          <a:spcPct val="90000"/>
        </a:lnSpc>
        <a:spcBef>
          <a:spcPts val="463"/>
        </a:spcBef>
        <a:spcAft>
          <a:spcPct val="0"/>
        </a:spcAft>
        <a:buFont typeface="Arial" pitchFamily="34" charset="0"/>
        <a:buChar char="•"/>
        <a:defRPr sz="2400" kern="1200">
          <a:solidFill>
            <a:schemeClr val="tx1"/>
          </a:solidFill>
          <a:latin typeface="+mn-lt"/>
          <a:ea typeface="+mn-ea"/>
          <a:cs typeface="+mn-cs"/>
        </a:defRPr>
      </a:lvl3pPr>
      <a:lvl4pPr marL="1476375" indent="-209550" algn="l" rtl="0" eaLnBrk="0" fontAlgn="base" hangingPunct="0">
        <a:lnSpc>
          <a:spcPct val="90000"/>
        </a:lnSpc>
        <a:spcBef>
          <a:spcPts val="463"/>
        </a:spcBef>
        <a:spcAft>
          <a:spcPct val="0"/>
        </a:spcAft>
        <a:buFont typeface="Arial" pitchFamily="34" charset="0"/>
        <a:buChar char="•"/>
        <a:defRPr sz="2000" kern="1200">
          <a:solidFill>
            <a:schemeClr val="tx1"/>
          </a:solidFill>
          <a:latin typeface="+mn-lt"/>
          <a:ea typeface="+mn-ea"/>
          <a:cs typeface="+mn-cs"/>
        </a:defRPr>
      </a:lvl4pPr>
      <a:lvl5pPr marL="1898650" indent="-209550" algn="l" rtl="0" eaLnBrk="0" fontAlgn="base" hangingPunct="0">
        <a:lnSpc>
          <a:spcPct val="90000"/>
        </a:lnSpc>
        <a:spcBef>
          <a:spcPts val="463"/>
        </a:spcBef>
        <a:spcAft>
          <a:spcPct val="0"/>
        </a:spcAft>
        <a:buFont typeface="Arial" pitchFamily="34" charset="0"/>
        <a:buChar char="•"/>
        <a:defRPr sz="2000" kern="1200">
          <a:solidFill>
            <a:schemeClr val="tx1"/>
          </a:solidFill>
          <a:latin typeface="+mn-lt"/>
          <a:ea typeface="+mn-ea"/>
          <a:cs typeface="+mn-cs"/>
        </a:defRPr>
      </a:lvl5pPr>
      <a:lvl6pPr marL="2321227"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6pPr>
      <a:lvl7pPr marL="2743269"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7pPr>
      <a:lvl8pPr marL="3165310"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8pPr>
      <a:lvl9pPr marL="3587351" indent="-211021" algn="l" defTabSz="844083" rtl="0" eaLnBrk="1" latinLnBrk="0" hangingPunct="1">
        <a:lnSpc>
          <a:spcPct val="90000"/>
        </a:lnSpc>
        <a:spcBef>
          <a:spcPts val="462"/>
        </a:spcBef>
        <a:buFont typeface="Arial" panose="020B0604020202020204" pitchFamily="34" charset="0"/>
        <a:buChar char="•"/>
        <a:defRPr sz="1662"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5.jpg" /><Relationship Id="rId2" Type="http://schemas.openxmlformats.org/officeDocument/2006/relationships/image" Target="../media/image4.jpg" /><Relationship Id="rId1" Type="http://schemas.openxmlformats.org/officeDocument/2006/relationships/slideLayout" Target="../slideLayouts/slideLayout2.xml" /><Relationship Id="rId4" Type="http://schemas.openxmlformats.org/officeDocument/2006/relationships/image" Target="../media/image6.jp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723900" y="1457504"/>
            <a:ext cx="7696200" cy="3785652"/>
          </a:xfrm>
          <a:prstGeom prst="rect">
            <a:avLst/>
          </a:prstGeom>
          <a:noFill/>
          <a:ln>
            <a:noFill/>
          </a:ln>
          <a:effectLst/>
        </p:spPr>
        <p:txBody>
          <a:bodyPr wrap="square">
            <a:spAutoFit/>
          </a:bodyPr>
          <a:lstStyle/>
          <a:p>
            <a:pPr algn="ctr" eaLnBrk="1" fontAlgn="auto" hangingPunct="1">
              <a:spcBef>
                <a:spcPts val="0"/>
              </a:spcBef>
              <a:spcAft>
                <a:spcPts val="0"/>
              </a:spcAft>
              <a:defRPr/>
            </a:pPr>
            <a:r>
              <a:rPr lang="en-US" sz="2800" b="1" dirty="0">
                <a:solidFill>
                  <a:schemeClr val="bg1"/>
                </a:solidFill>
                <a:latin typeface="Times New Roman" pitchFamily="18" charset="0"/>
                <a:cs typeface="Times New Roman" pitchFamily="18" charset="0"/>
              </a:rPr>
              <a:t>“ Personal Expenses Tracker ”</a:t>
            </a:r>
          </a:p>
          <a:p>
            <a:pPr algn="ctr" eaLnBrk="1" fontAlgn="auto" hangingPunct="1">
              <a:spcBef>
                <a:spcPts val="0"/>
              </a:spcBef>
              <a:spcAft>
                <a:spcPts val="0"/>
              </a:spcAft>
              <a:defRPr/>
            </a:pPr>
            <a:endParaRPr lang="en-IN" sz="2800"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dirty="0">
                <a:solidFill>
                  <a:schemeClr val="bg1"/>
                </a:solidFill>
                <a:latin typeface="Times New Roman" pitchFamily="18" charset="0"/>
                <a:cs typeface="Times New Roman" pitchFamily="18" charset="0"/>
              </a:rPr>
              <a:t> </a:t>
            </a:r>
          </a:p>
          <a:p>
            <a:pPr algn="ctr" eaLnBrk="1" fontAlgn="auto" hangingPunct="1">
              <a:spcBef>
                <a:spcPts val="0"/>
              </a:spcBef>
              <a:spcAft>
                <a:spcPts val="0"/>
              </a:spcAft>
              <a:defRPr/>
            </a:pPr>
            <a:r>
              <a:rPr lang="en-IN" dirty="0">
                <a:solidFill>
                  <a:schemeClr val="bg1"/>
                </a:solidFill>
                <a:latin typeface="Times New Roman" pitchFamily="18" charset="0"/>
                <a:cs typeface="Times New Roman" pitchFamily="18" charset="0"/>
              </a:rPr>
              <a:t>Presented by</a:t>
            </a: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IN" sz="2000" b="1" dirty="0" err="1">
                <a:solidFill>
                  <a:schemeClr val="bg1"/>
                </a:solidFill>
                <a:latin typeface="Times New Roman" pitchFamily="18" charset="0"/>
                <a:cs typeface="Times New Roman" pitchFamily="18" charset="0"/>
              </a:rPr>
              <a:t>Priyanshu Rathore</a:t>
            </a:r>
            <a:r>
              <a:rPr lang="en-IN" sz="2000" b="1" dirty="0">
                <a:solidFill>
                  <a:schemeClr val="bg1"/>
                </a:solidFill>
                <a:latin typeface="Times New Roman" pitchFamily="18" charset="0"/>
                <a:cs typeface="Times New Roman" pitchFamily="18" charset="0"/>
              </a:rPr>
              <a:t>                             Roll No. BCAN1CA23068</a:t>
            </a: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Gautam Yadav                         Roll No. BCAN1CA23031</a:t>
            </a:r>
          </a:p>
          <a:p>
            <a:pPr algn="ctr" eaLnBrk="1" fontAlgn="auto" hangingPunct="1">
              <a:spcBef>
                <a:spcPts val="0"/>
              </a:spcBef>
              <a:spcAft>
                <a:spcPts val="0"/>
              </a:spcAft>
              <a:defRPr/>
            </a:pPr>
            <a:r>
              <a:rPr lang="en-IN" sz="2000" b="1" dirty="0">
                <a:solidFill>
                  <a:schemeClr val="bg1"/>
                </a:solidFill>
                <a:latin typeface="Times New Roman" pitchFamily="18" charset="0"/>
                <a:cs typeface="Times New Roman" pitchFamily="18" charset="0"/>
              </a:rPr>
              <a:t>Nikhil Kushwaha                      Roll No. BCAN1CA23053</a:t>
            </a:r>
          </a:p>
          <a:p>
            <a:pPr algn="ctr" eaLnBrk="1" fontAlgn="auto" hangingPunct="1">
              <a:spcBef>
                <a:spcPts val="0"/>
              </a:spcBef>
              <a:spcAft>
                <a:spcPts val="0"/>
              </a:spcAft>
              <a:defRPr/>
            </a:pPr>
            <a:endParaRPr lang="en-IN" dirty="0">
              <a:solidFill>
                <a:schemeClr val="bg1"/>
              </a:solidFill>
              <a:latin typeface="Times New Roman" pitchFamily="18" charset="0"/>
              <a:cs typeface="Times New Roman" pitchFamily="18" charset="0"/>
            </a:endParaRPr>
          </a:p>
          <a:p>
            <a:pPr algn="ctr" eaLnBrk="1" fontAlgn="auto" hangingPunct="1">
              <a:spcBef>
                <a:spcPts val="0"/>
              </a:spcBef>
              <a:spcAft>
                <a:spcPts val="0"/>
              </a:spcAft>
              <a:defRPr/>
            </a:pPr>
            <a:r>
              <a:rPr lang="en-US" dirty="0">
                <a:solidFill>
                  <a:schemeClr val="bg1"/>
                </a:solidFill>
                <a:latin typeface="Times New Roman" pitchFamily="18" charset="0"/>
                <a:cs typeface="Times New Roman" pitchFamily="18" charset="0"/>
              </a:rPr>
              <a:t>Under the guidance of</a:t>
            </a:r>
          </a:p>
          <a:p>
            <a:pPr algn="ctr" eaLnBrk="1" fontAlgn="auto" hangingPunct="1">
              <a:spcBef>
                <a:spcPts val="0"/>
              </a:spcBef>
              <a:spcAft>
                <a:spcPts val="0"/>
              </a:spcAft>
              <a:defRPr/>
            </a:pPr>
            <a:r>
              <a:rPr lang="en-US" dirty="0">
                <a:solidFill>
                  <a:schemeClr val="bg1"/>
                </a:solidFill>
                <a:latin typeface="Times New Roman" pitchFamily="18" charset="0"/>
                <a:cs typeface="Times New Roman" pitchFamily="18" charset="0"/>
              </a:rPr>
              <a:t>Ms. Anjali Saraswat</a:t>
            </a:r>
          </a:p>
          <a:p>
            <a:pPr algn="ctr" eaLnBrk="1" fontAlgn="auto" hangingPunct="1">
              <a:spcBef>
                <a:spcPts val="0"/>
              </a:spcBef>
              <a:spcAft>
                <a:spcPts val="0"/>
              </a:spcAft>
              <a:defRPr/>
            </a:pPr>
            <a:r>
              <a:rPr lang="en-US" dirty="0">
                <a:solidFill>
                  <a:schemeClr val="bg1"/>
                </a:solidFill>
                <a:latin typeface="Times New Roman" pitchFamily="18" charset="0"/>
                <a:cs typeface="Times New Roman" pitchFamily="18" charset="0"/>
              </a:rPr>
              <a:t>Department of Computer Science Engineering</a:t>
            </a:r>
          </a:p>
          <a:p>
            <a:pPr algn="ctr" eaLnBrk="1" fontAlgn="auto" hangingPunct="1">
              <a:spcBef>
                <a:spcPts val="0"/>
              </a:spcBef>
              <a:spcAft>
                <a:spcPts val="0"/>
              </a:spcAft>
              <a:defRPr/>
            </a:pPr>
            <a:r>
              <a:rPr lang="en-US" dirty="0">
                <a:solidFill>
                  <a:schemeClr val="bg1"/>
                </a:solidFill>
                <a:latin typeface="Times New Roman" pitchFamily="18" charset="0"/>
                <a:cs typeface="Times New Roman" pitchFamily="18" charset="0"/>
              </a:rPr>
              <a:t>ITM University, Gwalior (M.P.)</a:t>
            </a:r>
            <a:endParaRPr lang="en-IN" sz="1600"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A76736F7-70D6-4369-9B0D-4EE23F51EE2F}" type="slidenum">
              <a:rPr lang="en-US" altLang="en-US" smtClean="0"/>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noChangeArrowheads="1"/>
          </p:cNvSpPr>
          <p:nvPr>
            <p:ph idx="1"/>
          </p:nvPr>
        </p:nvSpPr>
        <p:spPr>
          <a:xfrm>
            <a:off x="1236663" y="1600200"/>
            <a:ext cx="7475537" cy="4003958"/>
          </a:xfrm>
        </p:spPr>
        <p:txBody>
          <a:bodyPr/>
          <a:lstStyle/>
          <a:p>
            <a:pPr>
              <a:lnSpc>
                <a:spcPct val="100000"/>
              </a:lnSpc>
              <a:buFont typeface="Wingdings" pitchFamily="2" charset="2"/>
              <a:buChar char="ü"/>
            </a:pPr>
            <a:r>
              <a:rPr lang="en-IN" altLang="en-US" sz="2000" dirty="0">
                <a:latin typeface="Times New Roman" pitchFamily="18" charset="0"/>
                <a:cs typeface="Times New Roman" pitchFamily="18" charset="0"/>
              </a:rPr>
              <a:t> Introduction</a:t>
            </a:r>
          </a:p>
          <a:p>
            <a:pPr>
              <a:lnSpc>
                <a:spcPct val="100000"/>
              </a:lnSpc>
              <a:buFont typeface="Wingdings" pitchFamily="2" charset="2"/>
              <a:buChar char="ü"/>
            </a:pPr>
            <a:r>
              <a:rPr lang="en-IN" altLang="en-US" sz="2000" dirty="0">
                <a:latin typeface="Times New Roman" pitchFamily="18" charset="0"/>
                <a:cs typeface="Times New Roman" pitchFamily="18" charset="0"/>
              </a:rPr>
              <a:t> Objectives of the Project</a:t>
            </a:r>
          </a:p>
          <a:p>
            <a:pPr>
              <a:lnSpc>
                <a:spcPct val="100000"/>
              </a:lnSpc>
              <a:buFont typeface="Wingdings" pitchFamily="2" charset="2"/>
              <a:buChar char="ü"/>
            </a:pPr>
            <a:r>
              <a:rPr lang="en-IN" altLang="en-US" sz="2000" dirty="0">
                <a:latin typeface="Times New Roman" pitchFamily="18" charset="0"/>
                <a:cs typeface="Times New Roman" pitchFamily="18" charset="0"/>
              </a:rPr>
              <a:t> Proposed System &amp; Architecture</a:t>
            </a:r>
          </a:p>
          <a:p>
            <a:pPr>
              <a:lnSpc>
                <a:spcPct val="100000"/>
              </a:lnSpc>
              <a:buFont typeface="Wingdings" pitchFamily="2" charset="2"/>
              <a:buChar char="ü"/>
            </a:pPr>
            <a:r>
              <a:rPr lang="en-IN" altLang="en-US" sz="2000" dirty="0">
                <a:latin typeface="Times New Roman" pitchFamily="18" charset="0"/>
                <a:cs typeface="Times New Roman" pitchFamily="18" charset="0"/>
              </a:rPr>
              <a:t> System Flowchart</a:t>
            </a:r>
          </a:p>
          <a:p>
            <a:pPr>
              <a:lnSpc>
                <a:spcPct val="100000"/>
              </a:lnSpc>
              <a:buFont typeface="Wingdings" pitchFamily="2" charset="2"/>
              <a:buChar char="ü"/>
            </a:pPr>
            <a:r>
              <a:rPr lang="en-IN" altLang="en-US" sz="2000" dirty="0">
                <a:latin typeface="Times New Roman" pitchFamily="18" charset="0"/>
                <a:cs typeface="Times New Roman" pitchFamily="18" charset="0"/>
              </a:rPr>
              <a:t> Results &amp; Screenshots</a:t>
            </a:r>
          </a:p>
          <a:p>
            <a:pPr>
              <a:lnSpc>
                <a:spcPct val="100000"/>
              </a:lnSpc>
              <a:buFont typeface="Wingdings" pitchFamily="2" charset="2"/>
              <a:buChar char="ü"/>
            </a:pPr>
            <a:r>
              <a:rPr lang="en-IN" altLang="en-US" sz="2000" dirty="0">
                <a:latin typeface="Times New Roman" pitchFamily="18" charset="0"/>
                <a:cs typeface="Times New Roman" pitchFamily="18" charset="0"/>
              </a:rPr>
              <a:t> Testing &amp; Validation</a:t>
            </a:r>
          </a:p>
          <a:p>
            <a:pPr>
              <a:lnSpc>
                <a:spcPct val="100000"/>
              </a:lnSpc>
              <a:buFont typeface="Wingdings" pitchFamily="2" charset="2"/>
              <a:buChar char="ü"/>
            </a:pPr>
            <a:r>
              <a:rPr lang="en-IN" altLang="en-US" sz="2000" dirty="0">
                <a:latin typeface="Times New Roman" pitchFamily="18" charset="0"/>
                <a:cs typeface="Times New Roman" pitchFamily="18" charset="0"/>
              </a:rPr>
              <a:t> Conclusion &amp; Future Work</a:t>
            </a:r>
          </a:p>
          <a:p>
            <a:pPr>
              <a:lnSpc>
                <a:spcPct val="100000"/>
              </a:lnSpc>
              <a:buFont typeface="Wingdings" pitchFamily="2" charset="2"/>
              <a:buChar char="ü"/>
            </a:pPr>
            <a:r>
              <a:rPr lang="en-IN" altLang="en-US" sz="2000" dirty="0">
                <a:latin typeface="Times New Roman" pitchFamily="18" charset="0"/>
                <a:cs typeface="Times New Roman" pitchFamily="18" charset="0"/>
              </a:rPr>
              <a:t> References</a:t>
            </a:r>
          </a:p>
        </p:txBody>
      </p:sp>
      <p:cxnSp>
        <p:nvCxnSpPr>
          <p:cNvPr id="6" name="Straight Connector 5"/>
          <p:cNvCxnSpPr/>
          <p:nvPr/>
        </p:nvCxnSpPr>
        <p:spPr>
          <a:xfrm flipV="1">
            <a:off x="1043608" y="1467463"/>
            <a:ext cx="7920880" cy="17321"/>
          </a:xfrm>
          <a:prstGeom prst="line">
            <a:avLst/>
          </a:prstGeom>
          <a:ln w="38100">
            <a:solidFill>
              <a:srgbClr val="800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4630" y="908720"/>
            <a:ext cx="3723394" cy="548099"/>
          </a:xfrm>
          <a:prstGeom prst="rect">
            <a:avLst/>
          </a:prstGeom>
        </p:spPr>
        <p:txBody>
          <a:bodyPr wrap="square">
            <a:spAutoFit/>
          </a:bodyPr>
          <a:lstStyle/>
          <a:p>
            <a:pPr algn="just">
              <a:lnSpc>
                <a:spcPct val="115000"/>
              </a:lnSpc>
              <a:spcAft>
                <a:spcPts val="1000"/>
              </a:spcAft>
            </a:pPr>
            <a:r>
              <a:rPr lang="en-US"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Presentation Outline</a:t>
            </a:r>
            <a:endParaRPr lang="en-IN"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A76736F7-70D6-4369-9B0D-4EE23F51EE2F}"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947" y="1219200"/>
            <a:ext cx="7475973" cy="685800"/>
          </a:xfrm>
        </p:spPr>
        <p:txBody>
          <a:bodyPr/>
          <a:lstStyle/>
          <a:p>
            <a:r>
              <a:rPr lang="en-US" dirty="0"/>
              <a:t>Introduction</a:t>
            </a:r>
            <a:endParaRPr lang="en-IN" dirty="0"/>
          </a:p>
        </p:txBody>
      </p:sp>
      <p:sp>
        <p:nvSpPr>
          <p:cNvPr id="3" name="Content Placeholder 2"/>
          <p:cNvSpPr>
            <a:spLocks noGrp="1"/>
          </p:cNvSpPr>
          <p:nvPr>
            <p:ph idx="1"/>
          </p:nvPr>
        </p:nvSpPr>
        <p:spPr>
          <a:xfrm>
            <a:off x="1235947" y="2209800"/>
            <a:ext cx="7279403" cy="3989390"/>
          </a:xfrm>
        </p:spPr>
        <p:txBody>
          <a:bodyPr/>
          <a:lstStyle/>
          <a:p>
            <a:r>
              <a:rPr lang="en-US" sz="1800" dirty="0"/>
              <a:t>In today’s digital world, managing personal finances has become an essential task. Many individuals find it difficult to keep track of their daily income and expenses, which often leads to poor financial planning.</a:t>
            </a:r>
          </a:p>
          <a:p>
            <a:r>
              <a:rPr lang="en-US" sz="1800" dirty="0"/>
              <a:t>The Personal Finance Management System (Expense Tracker) is a web-based application designed to help users manage their finances effectively. It allows users to record income and expenses, calculate the total balance, and visualize financial data through charts.</a:t>
            </a:r>
          </a:p>
          <a:p>
            <a:r>
              <a:rPr lang="en-US" sz="1800" dirty="0"/>
              <a:t>The system is developed using HTML, CSS, and JavaScript, making it lightweight and easy to use without requiring any backend or database. Data is stored locally using the browser’s localStorage API.</a:t>
            </a:r>
          </a:p>
        </p:txBody>
      </p:sp>
      <p:sp>
        <p:nvSpPr>
          <p:cNvPr id="4" name="Slide Number Placeholder 3"/>
          <p:cNvSpPr>
            <a:spLocks noGrp="1"/>
          </p:cNvSpPr>
          <p:nvPr>
            <p:ph type="sldNum" sz="quarter" idx="12"/>
          </p:nvPr>
        </p:nvSpPr>
        <p:spPr/>
        <p:txBody>
          <a:bodyPr/>
          <a:lstStyle/>
          <a:p>
            <a:fld id="{A76736F7-70D6-4369-9B0D-4EE23F51EE2F}" type="slidenum">
              <a:rPr lang="en-US" altLang="en-US" smtClean="0"/>
              <a:pPr/>
              <a:t>3</a:t>
            </a:fld>
            <a:endParaRPr lang="en-US" altLang="en-US"/>
          </a:p>
        </p:txBody>
      </p:sp>
    </p:spTree>
    <p:extLst>
      <p:ext uri="{BB962C8B-B14F-4D97-AF65-F5344CB8AC3E}">
        <p14:creationId xmlns:p14="http://schemas.microsoft.com/office/powerpoint/2010/main" val="3067417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Objectives of the Project</a:t>
            </a:r>
          </a:p>
        </p:txBody>
      </p:sp>
      <p:sp>
        <p:nvSpPr>
          <p:cNvPr id="4" name="Slide Number Placeholder 3"/>
          <p:cNvSpPr>
            <a:spLocks noGrp="1"/>
          </p:cNvSpPr>
          <p:nvPr>
            <p:ph type="sldNum" sz="quarter" idx="12"/>
          </p:nvPr>
        </p:nvSpPr>
        <p:spPr/>
        <p:txBody>
          <a:bodyPr/>
          <a:lstStyle/>
          <a:p>
            <a:fld id="{A76736F7-70D6-4369-9B0D-4EE23F51EE2F}" type="slidenum">
              <a:rPr lang="en-US" altLang="en-US" smtClean="0"/>
              <a:pPr/>
              <a:t>4</a:t>
            </a:fld>
            <a:endParaRPr lang="en-US" altLang="en-US"/>
          </a:p>
        </p:txBody>
      </p:sp>
      <p:sp>
        <p:nvSpPr>
          <p:cNvPr id="7" name="Rectangle 3"/>
          <p:cNvSpPr>
            <a:spLocks noGrp="1" noChangeArrowheads="1"/>
          </p:cNvSpPr>
          <p:nvPr>
            <p:ph idx="1"/>
          </p:nvPr>
        </p:nvSpPr>
        <p:spPr bwMode="auto">
          <a:xfrm>
            <a:off x="1235947" y="1995101"/>
            <a:ext cx="737465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effectLst/>
                <a:latin typeface="Arial" panose="020B0604020202020204" pitchFamily="34" charset="0"/>
              </a:rPr>
              <a:t>The main objectives of this project are: to develop a user-friendly system for tracking income and expenses, to provide real-time calculation of total balance, and to store transaction data securely using localStorage.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effectLst/>
                <a:latin typeface="Arial" panose="020B0604020202020204" pitchFamily="34" charset="0"/>
              </a:rPr>
              <a:t>Additional objectives include: displaying a monthly financial summary using charts, helping users understand their spending habits through categorized transactions, and providing filter options to view income and expenses separately.</a:t>
            </a:r>
          </a:p>
        </p:txBody>
      </p:sp>
    </p:spTree>
    <p:extLst>
      <p:ext uri="{BB962C8B-B14F-4D97-AF65-F5344CB8AC3E}">
        <p14:creationId xmlns:p14="http://schemas.microsoft.com/office/powerpoint/2010/main" val="1118032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 &amp; Modules</a:t>
            </a:r>
          </a:p>
        </p:txBody>
      </p:sp>
      <p:sp>
        <p:nvSpPr>
          <p:cNvPr id="3" name="Content Placeholder 2"/>
          <p:cNvSpPr>
            <a:spLocks noGrp="1"/>
          </p:cNvSpPr>
          <p:nvPr>
            <p:ph idx="1"/>
          </p:nvPr>
        </p:nvSpPr>
        <p:spPr/>
        <p:txBody>
          <a:bodyPr/>
          <a:lstStyle/>
          <a:p>
            <a:r>
              <a:rPr lang="en-US" sz="1800" b="1" dirty="0"/>
              <a:t>Input Module</a:t>
            </a:r>
            <a:r>
              <a:rPr lang="en-US" sz="1800" dirty="0"/>
              <a:t>: Allows users to enter transaction details such as description, amount, and category (General, Food, Travel, Shopping, Salary).</a:t>
            </a:r>
          </a:p>
          <a:p>
            <a:r>
              <a:rPr lang="en-US" sz="1800" b="1" dirty="0"/>
              <a:t>Processing Module</a:t>
            </a:r>
            <a:r>
              <a:rPr lang="en-US" sz="1800" dirty="0"/>
              <a:t>: Handles the logic for calculating total balance, income, and expenses in real time based on user-entered data.</a:t>
            </a:r>
          </a:p>
          <a:p>
            <a:r>
              <a:rPr lang="en-US" sz="1800" b="1" dirty="0"/>
              <a:t>Storage Module</a:t>
            </a:r>
            <a:r>
              <a:rPr lang="en-US" sz="1800" dirty="0"/>
              <a:t>: Uses localStorage to store all transaction data in the browser, ensuring data persists even after refreshing the page.</a:t>
            </a:r>
          </a:p>
          <a:p>
            <a:r>
              <a:rPr lang="en-US" sz="1800" b="1" dirty="0"/>
              <a:t>Visualization Module</a:t>
            </a:r>
            <a:r>
              <a:rPr lang="en-US" sz="1800" dirty="0"/>
              <a:t>: Displays financial data using Chart.js doughnut charts, providing a graphical monthly summary of income versus expenses.</a:t>
            </a:r>
          </a:p>
        </p:txBody>
      </p:sp>
      <p:sp>
        <p:nvSpPr>
          <p:cNvPr id="4" name="Slide Number Placeholder 3"/>
          <p:cNvSpPr>
            <a:spLocks noGrp="1"/>
          </p:cNvSpPr>
          <p:nvPr>
            <p:ph type="sldNum" sz="quarter" idx="12"/>
          </p:nvPr>
        </p:nvSpPr>
        <p:spPr/>
        <p:txBody>
          <a:bodyPr/>
          <a:lstStyle/>
          <a:p>
            <a:fld id="{A76736F7-70D6-4369-9B0D-4EE23F51EE2F}" type="slidenum">
              <a:rPr lang="en-US" altLang="en-US" smtClean="0"/>
              <a:pPr/>
              <a:t>5</a:t>
            </a:fld>
            <a:endParaRPr lang="en-US" altLang="en-US"/>
          </a:p>
        </p:txBody>
      </p:sp>
    </p:spTree>
    <p:extLst>
      <p:ext uri="{BB962C8B-B14F-4D97-AF65-F5344CB8AC3E}">
        <p14:creationId xmlns:p14="http://schemas.microsoft.com/office/powerpoint/2010/main" val="2727836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947" y="880943"/>
            <a:ext cx="7475973" cy="562708"/>
          </a:xfrm>
        </p:spPr>
        <p:txBody>
          <a:bodyPr/>
          <a:lstStyle/>
          <a:p>
            <a:r>
              <a:rPr lang="en-US" dirty="0"/>
              <a:t>System Architecture</a:t>
            </a:r>
          </a:p>
        </p:txBody>
      </p:sp>
      <p:sp>
        <p:nvSpPr>
          <p:cNvPr id="3" name="Content 2"/>
          <p:cNvSpPr>
            <a:spLocks noGrp="1"/>
          </p:cNvSpPr>
          <p:nvPr>
            <p:ph idx="1"/>
          </p:nvPr>
        </p:nvSpPr>
        <p:spPr>
          <a:xfrm>
            <a:off x="978824" y="1500000"/>
            <a:ext cx="4849630" cy="5000000"/>
          </a:xfrm>
        </p:spPr>
        <p:txBody>
          <a:bodyPr/>
          <a:lstStyle/>
          <a:p>
            <a:r>
              <a:rPr lang="en-US" sz="1600" b="1" dirty="0"/>
              <a:t>Client-Side Model</a:t>
            </a:r>
            <a:r>
              <a:rPr lang="en-US" sz="1400" dirty="0"/>
              <a:t>: Simple browser-based architecture; no backend server required.</a:t>
            </a:r>
          </a:p>
          <a:p>
            <a:endParaRPr lang="en-US" sz="1400" dirty="0"/>
          </a:p>
          <a:p>
            <a:r>
              <a:rPr lang="en-US" sz="1600" b="1" dirty="0"/>
              <a:t>Frontend (HTML &amp; CSS)</a:t>
            </a:r>
            <a:r>
              <a:rPr lang="en-US" sz="1400" dirty="0"/>
              <a:t>: Forms, transaction list, balance display, and filter controls.</a:t>
            </a:r>
          </a:p>
          <a:p>
            <a:endParaRPr lang="en-US" sz="1400" dirty="0"/>
          </a:p>
          <a:p>
            <a:r>
              <a:rPr lang="en-US" sz="1600" b="1" dirty="0"/>
              <a:t>JavaScript Logic</a:t>
            </a:r>
            <a:r>
              <a:rPr lang="en-US" sz="1400" dirty="0"/>
              <a:t>: Adds/deletes transactions, calculates balance, updates interface dynamically.</a:t>
            </a:r>
          </a:p>
          <a:p>
            <a:endParaRPr lang="en-US" sz="1400" dirty="0"/>
          </a:p>
          <a:p>
            <a:r>
              <a:rPr lang="en-US" sz="1600" b="1" dirty="0"/>
              <a:t>localStorage + Chart.js</a:t>
            </a:r>
            <a:r>
              <a:rPr lang="en-US" sz="1400" dirty="0"/>
              <a:t>: Persistent data storage in browser; doughnut chart for monthly summary.</a:t>
            </a:r>
          </a:p>
        </p:txBody>
      </p:sp>
      <p:pic>
        <p:nvPicPr>
          <p:cNvPr id="5" name="ArchImage"/>
          <p:cNvPicPr>
            <a:picLocks noChangeAspect="1"/>
          </p:cNvPicPr>
          <p:nvPr/>
        </p:nvPicPr>
        <p:blipFill>
          <a:blip r:embed="rId2"/>
          <a:stretch>
            <a:fillRect/>
          </a:stretch>
        </p:blipFill>
        <p:spPr>
          <a:xfrm>
            <a:off x="5748368" y="1500000"/>
            <a:ext cx="3001631" cy="4800000"/>
          </a:xfrm>
          <a:prstGeom prst="rect">
            <a:avLst/>
          </a:prstGeom>
        </p:spPr>
      </p:pic>
      <p:sp>
        <p:nvSpPr>
          <p:cNvPr id="4" name="Slide Number"/>
          <p:cNvSpPr>
            <a:spLocks noGrp="1"/>
          </p:cNvSpPr>
          <p:nvPr>
            <p:ph type="sldNum" sz="quarter" idx="12"/>
          </p:nvPr>
        </p:nvSpPr>
        <p:spPr/>
        <p:txBody>
          <a:bodyPr/>
          <a:lstStyle/>
          <a:p>
            <a:fld id="{A76736F7-70D6-4369-9B0D-4EE23F51EE2F}" type="slidenum">
              <a:rPr lang="en-US" altLang="en-US" smtClean="0"/>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947" y="800856"/>
            <a:ext cx="7475973" cy="477669"/>
          </a:xfrm>
        </p:spPr>
        <p:txBody>
          <a:bodyPr/>
          <a:lstStyle/>
          <a:p>
            <a:r>
              <a:rPr lang="en-US" dirty="0"/>
              <a:t>System Flowchart</a:t>
            </a:r>
          </a:p>
        </p:txBody>
      </p:sp>
      <p:sp>
        <p:nvSpPr>
          <p:cNvPr id="3" name="Content 2"/>
          <p:cNvSpPr>
            <a:spLocks noGrp="1"/>
          </p:cNvSpPr>
          <p:nvPr>
            <p:ph idx="1"/>
          </p:nvPr>
        </p:nvSpPr>
        <p:spPr>
          <a:xfrm>
            <a:off x="952128" y="1500000"/>
            <a:ext cx="4573779" cy="5000000"/>
          </a:xfrm>
        </p:spPr>
        <p:txBody>
          <a:bodyPr/>
          <a:lstStyle/>
          <a:p>
            <a:r>
              <a:rPr lang="en-US" sz="1500" b="1" dirty="0"/>
              <a:t>Step 1:</a:t>
            </a:r>
            <a:r>
              <a:rPr lang="en-US" sz="1400" dirty="0"/>
              <a:t> User enters transaction (description, amount, category)</a:t>
            </a:r>
          </a:p>
          <a:p>
            <a:endParaRPr lang="en-US" sz="1400" dirty="0"/>
          </a:p>
          <a:p>
            <a:r>
              <a:rPr lang="en-US" sz="1500" b="1" dirty="0"/>
              <a:t>Step 2:</a:t>
            </a:r>
            <a:r>
              <a:rPr lang="en-US" sz="1400" dirty="0"/>
              <a:t> System validates input for correctness</a:t>
            </a:r>
          </a:p>
          <a:p>
            <a:endParaRPr lang="en-US" sz="1400" dirty="0"/>
          </a:p>
          <a:p>
            <a:r>
              <a:rPr lang="en-US" sz="1500" b="1" dirty="0"/>
              <a:t>Step 3:</a:t>
            </a:r>
            <a:r>
              <a:rPr lang="en-US" sz="1400" dirty="0"/>
              <a:t> Transaction stored in localStorage</a:t>
            </a:r>
          </a:p>
          <a:p>
            <a:endParaRPr lang="en-US" sz="1400" dirty="0"/>
          </a:p>
          <a:p>
            <a:r>
              <a:rPr lang="en-US" sz="1500" b="1" dirty="0"/>
              <a:t>Step 4:</a:t>
            </a:r>
            <a:r>
              <a:rPr lang="en-US" sz="1400" dirty="0"/>
              <a:t> Balance, income &amp; expenses updated automatically</a:t>
            </a:r>
          </a:p>
          <a:p>
            <a:endParaRPr lang="en-US" sz="1400" dirty="0"/>
          </a:p>
          <a:p>
            <a:r>
              <a:rPr lang="en-US" sz="1500" b="1" dirty="0"/>
              <a:t>Step 5:</a:t>
            </a:r>
            <a:r>
              <a:rPr lang="en-US" sz="1400" dirty="0"/>
              <a:t> Updated data displayed on screen</a:t>
            </a:r>
          </a:p>
          <a:p>
            <a:endParaRPr lang="en-US" sz="1400" dirty="0"/>
          </a:p>
          <a:p>
            <a:r>
              <a:rPr lang="en-US" sz="1500" b="1" dirty="0"/>
              <a:t>Step 6:</a:t>
            </a:r>
            <a:r>
              <a:rPr lang="en-US" sz="1400" dirty="0"/>
              <a:t> Monthly chart generated via Chart.js</a:t>
            </a:r>
          </a:p>
        </p:txBody>
      </p:sp>
      <p:pic>
        <p:nvPicPr>
          <p:cNvPr id="5" name="FlowchartImage"/>
          <p:cNvPicPr>
            <a:picLocks noChangeAspect="1"/>
          </p:cNvPicPr>
          <p:nvPr/>
        </p:nvPicPr>
        <p:blipFill>
          <a:blip r:embed="rId2"/>
          <a:stretch>
            <a:fillRect/>
          </a:stretch>
        </p:blipFill>
        <p:spPr>
          <a:xfrm>
            <a:off x="5525908" y="1600000"/>
            <a:ext cx="3224091" cy="4800000"/>
          </a:xfrm>
          <a:prstGeom prst="rect">
            <a:avLst/>
          </a:prstGeom>
        </p:spPr>
      </p:pic>
      <p:sp>
        <p:nvSpPr>
          <p:cNvPr id="4" name="Slide Number"/>
          <p:cNvSpPr>
            <a:spLocks noGrp="1"/>
          </p:cNvSpPr>
          <p:nvPr>
            <p:ph type="sldNum" sz="quarter" idx="12"/>
          </p:nvPr>
        </p:nvSpPr>
        <p:spPr/>
        <p:txBody>
          <a:bodyPr/>
          <a:lstStyle/>
          <a:p>
            <a:fld id="{A76736F7-70D6-4369-9B0D-4EE23F51EE2F}"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947" y="916537"/>
            <a:ext cx="7475973" cy="484334"/>
          </a:xfrm>
        </p:spPr>
        <p:txBody>
          <a:bodyPr/>
          <a:lstStyle/>
          <a:p>
            <a:r>
              <a:rPr lang="en-US" dirty="0"/>
              <a:t>Results &amp; Screenshots</a:t>
            </a:r>
          </a:p>
        </p:txBody>
      </p:sp>
      <p:sp>
        <p:nvSpPr>
          <p:cNvPr id="3" name="Content 2"/>
          <p:cNvSpPr>
            <a:spLocks noGrp="1"/>
          </p:cNvSpPr>
          <p:nvPr>
            <p:ph idx="1"/>
          </p:nvPr>
        </p:nvSpPr>
        <p:spPr>
          <a:xfrm>
            <a:off x="911916" y="1385047"/>
            <a:ext cx="7603434" cy="324519"/>
          </a:xfrm>
        </p:spPr>
        <p:txBody>
          <a:bodyPr/>
          <a:lstStyle/>
          <a:p>
            <a:r>
              <a:rPr lang="en-US" sz="1400" dirty="0"/>
              <a:t>The system successfully demonstrates real-time balance tracking, category-based transaction management, and visual monthly summaries.</a:t>
            </a:r>
          </a:p>
        </p:txBody>
      </p:sp>
      <p:pic>
        <p:nvPicPr>
          <p:cNvPr id="5" name="MainInterface"/>
          <p:cNvPicPr>
            <a:picLocks noChangeAspect="1"/>
          </p:cNvPicPr>
          <p:nvPr/>
        </p:nvPicPr>
        <p:blipFill>
          <a:blip r:embed="rId2"/>
          <a:stretch>
            <a:fillRect/>
          </a:stretch>
        </p:blipFill>
        <p:spPr>
          <a:xfrm>
            <a:off x="1084287" y="1950000"/>
            <a:ext cx="2704949" cy="3800000"/>
          </a:xfrm>
          <a:prstGeom prst="rect">
            <a:avLst/>
          </a:prstGeom>
        </p:spPr>
      </p:pic>
      <p:sp>
        <p:nvSpPr>
          <p:cNvPr id="6" name="Cap1"/>
          <p:cNvSpPr/>
          <p:nvPr/>
        </p:nvSpPr>
        <p:spPr>
          <a:xfrm>
            <a:off x="380000" y="5800000"/>
            <a:ext cx="2600000" cy="400000"/>
          </a:xfrm>
          <a:prstGeom prst="rect">
            <a:avLst/>
          </a:prstGeom>
          <a:noFill/>
          <a:ln>
            <a:noFill/>
          </a:ln>
        </p:spPr>
        <p:txBody>
          <a:bodyPr wrap="square">
            <a:spAutoFit/>
          </a:bodyPr>
          <a:lstStyle/>
          <a:p>
            <a:pPr algn="ctr"/>
            <a:r>
              <a:rPr lang="en-US" sz="1200" b="1" dirty="0"/>
              <a:t>Main Interface</a:t>
            </a:r>
          </a:p>
        </p:txBody>
      </p:sp>
      <p:pic>
        <p:nvPicPr>
          <p:cNvPr id="7" name="TxnList"/>
          <p:cNvPicPr>
            <a:picLocks noChangeAspect="1"/>
          </p:cNvPicPr>
          <p:nvPr/>
        </p:nvPicPr>
        <p:blipFill>
          <a:blip r:embed="rId3"/>
          <a:stretch>
            <a:fillRect/>
          </a:stretch>
        </p:blipFill>
        <p:spPr>
          <a:xfrm>
            <a:off x="3927656" y="1950000"/>
            <a:ext cx="2530293" cy="3800000"/>
          </a:xfrm>
          <a:prstGeom prst="rect">
            <a:avLst/>
          </a:prstGeom>
        </p:spPr>
      </p:pic>
      <p:sp>
        <p:nvSpPr>
          <p:cNvPr id="8" name="Cap2"/>
          <p:cNvSpPr/>
          <p:nvPr/>
        </p:nvSpPr>
        <p:spPr>
          <a:xfrm>
            <a:off x="3250000" y="5800000"/>
            <a:ext cx="2600000" cy="400000"/>
          </a:xfrm>
          <a:prstGeom prst="rect">
            <a:avLst/>
          </a:prstGeom>
          <a:noFill/>
          <a:ln>
            <a:noFill/>
          </a:ln>
        </p:spPr>
        <p:txBody>
          <a:bodyPr wrap="square">
            <a:spAutoFit/>
          </a:bodyPr>
          <a:lstStyle/>
          <a:p>
            <a:pPr algn="ctr"/>
            <a:r>
              <a:rPr lang="en-US" sz="1200" b="1" dirty="0"/>
              <a:t>Transaction List</a:t>
            </a:r>
          </a:p>
        </p:txBody>
      </p:sp>
      <p:pic>
        <p:nvPicPr>
          <p:cNvPr id="9" name="ChartView"/>
          <p:cNvPicPr>
            <a:picLocks noChangeAspect="1"/>
          </p:cNvPicPr>
          <p:nvPr/>
        </p:nvPicPr>
        <p:blipFill>
          <a:blip r:embed="rId4"/>
          <a:stretch>
            <a:fillRect/>
          </a:stretch>
        </p:blipFill>
        <p:spPr>
          <a:xfrm>
            <a:off x="6391813" y="2106350"/>
            <a:ext cx="2189673" cy="3800000"/>
          </a:xfrm>
          <a:prstGeom prst="rect">
            <a:avLst/>
          </a:prstGeom>
        </p:spPr>
      </p:pic>
      <p:sp>
        <p:nvSpPr>
          <p:cNvPr id="10" name="Cap3"/>
          <p:cNvSpPr/>
          <p:nvPr/>
        </p:nvSpPr>
        <p:spPr>
          <a:xfrm>
            <a:off x="6130000" y="5800000"/>
            <a:ext cx="2600000" cy="400000"/>
          </a:xfrm>
          <a:prstGeom prst="rect">
            <a:avLst/>
          </a:prstGeom>
          <a:noFill/>
          <a:ln>
            <a:noFill/>
          </a:ln>
        </p:spPr>
        <p:txBody>
          <a:bodyPr wrap="square">
            <a:spAutoFit/>
          </a:bodyPr>
          <a:lstStyle/>
          <a:p>
            <a:pPr algn="ctr"/>
            <a:r>
              <a:rPr lang="en-US" sz="1200" b="1" dirty="0"/>
              <a:t>Monthly Chart</a:t>
            </a:r>
          </a:p>
        </p:txBody>
      </p:sp>
      <p:sp>
        <p:nvSpPr>
          <p:cNvPr id="4" name="Slide Number"/>
          <p:cNvSpPr>
            <a:spLocks noGrp="1"/>
          </p:cNvSpPr>
          <p:nvPr>
            <p:ph type="sldNum" sz="quarter" idx="12"/>
          </p:nvPr>
        </p:nvSpPr>
        <p:spPr/>
        <p:txBody>
          <a:bodyPr/>
          <a:lstStyle/>
          <a:p>
            <a:fld id="{A76736F7-70D6-4369-9B0D-4EE23F51EE2F}" type="slidenum">
              <a:rPr lang="en-US" altLang="en-US" smtClean="0"/>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&amp; Validation</a:t>
            </a:r>
          </a:p>
        </p:txBody>
      </p:sp>
      <p:sp>
        <p:nvSpPr>
          <p:cNvPr id="3" name="Content 2"/>
          <p:cNvSpPr>
            <a:spLocks noGrp="1"/>
          </p:cNvSpPr>
          <p:nvPr>
            <p:ph idx="1"/>
          </p:nvPr>
        </p:nvSpPr>
        <p:spPr/>
        <p:txBody>
          <a:bodyPr/>
          <a:lstStyle/>
          <a:p>
            <a:r>
              <a:rPr lang="en-US" sz="1600" b="1" dirty="0"/>
              <a:t>Functional Testing</a:t>
            </a:r>
            <a:r>
              <a:rPr lang="en-US" sz="1600" dirty="0"/>
              <a:t>: Verified add/delete transactions, filtering by income/expense, and category selection — all passed.</a:t>
            </a:r>
          </a:p>
          <a:p>
            <a:endParaRPr lang="en-US" sz="1400" dirty="0"/>
          </a:p>
          <a:p>
            <a:r>
              <a:rPr lang="en-US" sz="1600" b="1" dirty="0"/>
              <a:t>UI Testing</a:t>
            </a:r>
            <a:r>
              <a:rPr lang="en-US" sz="1600" dirty="0"/>
              <a:t>: Interface verified for clarity, usability, and visual consistency across different input scenarios.</a:t>
            </a:r>
          </a:p>
          <a:p>
            <a:endParaRPr lang="en-US" sz="1400" dirty="0"/>
          </a:p>
          <a:p>
            <a:r>
              <a:rPr lang="en-US" sz="1600" b="1" dirty="0"/>
              <a:t>Data Validation Testing</a:t>
            </a:r>
            <a:r>
              <a:rPr lang="en-US" sz="1600" dirty="0"/>
              <a:t>: Empty/invalid inputs trigger alerts; localStorage correctly persists data after page refresh.</a:t>
            </a:r>
          </a:p>
          <a:p>
            <a:endParaRPr lang="en-US" sz="1400" dirty="0"/>
          </a:p>
          <a:p>
            <a:r>
              <a:rPr lang="en-US" sz="1600" b="1" dirty="0"/>
              <a:t>System Limitations</a:t>
            </a:r>
            <a:r>
              <a:rPr lang="en-US" sz="1600" dirty="0"/>
              <a:t>: No user authentication; data restricted to single device/browser; no advanced forecasting features.</a:t>
            </a:r>
          </a:p>
          <a:p>
            <a:endParaRPr lang="en-US" sz="1400" dirty="0"/>
          </a:p>
          <a:p>
            <a:r>
              <a:rPr lang="en-US" sz="1600" b="1" dirty="0"/>
              <a:t>All test cases passed</a:t>
            </a:r>
            <a:r>
              <a:rPr lang="en-US" sz="1600" dirty="0"/>
              <a:t> — balance calculation, chart visualization, localStorage persistence, and filter system.</a:t>
            </a:r>
          </a:p>
        </p:txBody>
      </p:sp>
      <p:sp>
        <p:nvSpPr>
          <p:cNvPr id="4" name="Slide Number"/>
          <p:cNvSpPr>
            <a:spLocks noGrp="1"/>
          </p:cNvSpPr>
          <p:nvPr>
            <p:ph type="sldNum" sz="quarter" idx="12"/>
          </p:nvPr>
        </p:nvSpPr>
        <p:spPr/>
        <p:txBody>
          <a:bodyPr/>
          <a:lstStyle/>
          <a:p>
            <a:fld id="{A76736F7-70D6-4369-9B0D-4EE23F51EE2F}" type="slidenum">
              <a:rPr lang="en-US" altLang="en-US" smtClean="0"/>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&amp; Future Work</a:t>
            </a:r>
          </a:p>
        </p:txBody>
      </p:sp>
      <p:sp>
        <p:nvSpPr>
          <p:cNvPr id="3" name="Content 2"/>
          <p:cNvSpPr>
            <a:spLocks noGrp="1"/>
          </p:cNvSpPr>
          <p:nvPr>
            <p:ph idx="1"/>
          </p:nvPr>
        </p:nvSpPr>
        <p:spPr/>
        <p:txBody>
          <a:bodyPr/>
          <a:lstStyle/>
          <a:p>
            <a:r>
              <a:rPr lang="en-US" sz="1600" b="1" dirty="0"/>
              <a:t>Conclusion</a:t>
            </a:r>
          </a:p>
          <a:p>
            <a:r>
              <a:rPr lang="en-US" sz="1500" dirty="0"/>
              <a:t>The Personal Finance Management System was successfully designed and implemented to help users manage their daily financial activities. It allows users to add, delete, and categorize transactions while providing real-time balance updates.</a:t>
            </a:r>
          </a:p>
          <a:p>
            <a:r>
              <a:rPr lang="en-US" sz="1500" dirty="0"/>
              <a:t>The project demonstrates practical use of HTML, CSS, and JavaScript with features like filtering, chart visualization, and localStorage — achieving all its stated objectives.</a:t>
            </a:r>
          </a:p>
          <a:p>
            <a:endParaRPr lang="en-US" sz="1400" dirty="0"/>
          </a:p>
          <a:p>
            <a:r>
              <a:rPr lang="en-US" sz="1600" b="1" dirty="0"/>
              <a:t>Future Enhancements</a:t>
            </a:r>
          </a:p>
          <a:p>
            <a:r>
              <a:rPr lang="en-US" sz="1500" dirty="0"/>
              <a:t>User authentication with secure login credentials</a:t>
            </a:r>
          </a:p>
          <a:p>
            <a:r>
              <a:rPr lang="en-US" sz="1500" dirty="0"/>
              <a:t>Cloud-based storage for multi-device access</a:t>
            </a:r>
          </a:p>
          <a:p>
            <a:r>
              <a:rPr lang="en-US" sz="1500" dirty="0"/>
              <a:t>Budget planning, expense reminders &amp; automated financial insights</a:t>
            </a:r>
          </a:p>
          <a:p>
            <a:r>
              <a:rPr lang="en-US" sz="1500" dirty="0"/>
              <a:t>Mobile app version for greater accessibility</a:t>
            </a:r>
          </a:p>
        </p:txBody>
      </p:sp>
      <p:sp>
        <p:nvSpPr>
          <p:cNvPr id="4" name="Slide Number"/>
          <p:cNvSpPr>
            <a:spLocks noGrp="1"/>
          </p:cNvSpPr>
          <p:nvPr>
            <p:ph type="sldNum" sz="quarter" idx="12"/>
          </p:nvPr>
        </p:nvSpPr>
        <p:spPr/>
        <p:txBody>
          <a:bodyPr/>
          <a:lstStyle/>
          <a:p>
            <a:fld id="{A76736F7-70D6-4369-9B0D-4EE23F51EE2F}"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2"/>
          <p:cNvSpPr>
            <a:spLocks noGrp="1"/>
          </p:cNvSpPr>
          <p:nvPr>
            <p:ph idx="1"/>
          </p:nvPr>
        </p:nvSpPr>
        <p:spPr/>
        <p:txBody>
          <a:bodyPr/>
          <a:lstStyle/>
          <a:p>
            <a:r>
              <a:rPr lang="en-US" sz="1600" b="1" dirty="0"/>
              <a:t>Web Resources</a:t>
            </a:r>
          </a:p>
          <a:p>
            <a:r>
              <a:rPr lang="en-US" sz="1500" dirty="0"/>
              <a:t>[1] W3Schools, HTML Tutorial — https://www.w3schools.com/html/</a:t>
            </a:r>
          </a:p>
          <a:p>
            <a:r>
              <a:rPr lang="en-US" sz="1500" dirty="0"/>
              <a:t>[2] W3Schools, CSS Tutorial — https://www.w3schools.com/css/</a:t>
            </a:r>
          </a:p>
          <a:p>
            <a:r>
              <a:rPr lang="en-US" sz="1500" dirty="0"/>
              <a:t>[3] W3Schools, JavaScript Tutorial — https://www.w3schools.com/js/</a:t>
            </a:r>
          </a:p>
          <a:p>
            <a:r>
              <a:rPr lang="en-US" sz="1500" dirty="0"/>
              <a:t>[4] MDN Web Docs, JavaScript Guide — https://developer.mozilla.org/en-US/docs/Web/JavaScript</a:t>
            </a:r>
          </a:p>
          <a:p>
            <a:r>
              <a:rPr lang="en-US" sz="1500" dirty="0"/>
              <a:t>[5] Chart.js Documentation — https://www.chartjs.org/docs/</a:t>
            </a:r>
          </a:p>
          <a:p>
            <a:r>
              <a:rPr lang="en-US" sz="1500" dirty="0"/>
              <a:t>[6] MDN Web Docs, Web Storage API — https://developer.mozilla.org/en-US/docs/Web/API/Web_Storage_API</a:t>
            </a:r>
          </a:p>
          <a:p>
            <a:endParaRPr lang="en-US" sz="1400" dirty="0"/>
          </a:p>
          <a:p>
            <a:r>
              <a:rPr lang="en-US" sz="1600" b="1" dirty="0"/>
              <a:t>Books</a:t>
            </a:r>
          </a:p>
          <a:p>
            <a:r>
              <a:rPr lang="en-US" sz="1500" dirty="0"/>
              <a:t>[7] J. Duckett, “HTML and CSS: Design and Build Websites,” John Wiley &amp; Sons, 2011.</a:t>
            </a:r>
          </a:p>
        </p:txBody>
      </p:sp>
      <p:sp>
        <p:nvSpPr>
          <p:cNvPr id="4" name="Slide Number"/>
          <p:cNvSpPr>
            <a:spLocks noGrp="1"/>
          </p:cNvSpPr>
          <p:nvPr>
            <p:ph type="sldNum" sz="quarter" idx="12"/>
          </p:nvPr>
        </p:nvSpPr>
        <p:spPr/>
        <p:txBody>
          <a:bodyPr/>
          <a:lstStyle/>
          <a:p>
            <a:fld id="{A76736F7-70D6-4369-9B0D-4EE23F51EE2F}" type="slidenum">
              <a:rPr lang="en-US" altLang="en-US" smtClean="0"/>
              <a:pPr/>
              <a:t>11</a:t>
            </a:fld>
            <a:endParaRPr lang="en-US" altLang="en-US"/>
          </a:p>
        </p:txBody>
      </p:sp>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12047</TotalTime>
  <Words>1058</Words>
  <Application>Microsoft Office PowerPoint</Application>
  <PresentationFormat>On-screen Show (4:3)</PresentationFormat>
  <Paragraphs>72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1_Office Theme</vt:lpstr>
      <vt:lpstr>PowerPoint Presentation</vt:lpstr>
      <vt:lpstr>PowerPoint Presentation</vt:lpstr>
      <vt:lpstr>Introduction</vt:lpstr>
      <vt:lpstr>Objectives of the Project</vt:lpstr>
      <vt:lpstr>Proposed System &amp; Modules</vt:lpstr>
      <vt:lpstr>System Architecture</vt:lpstr>
      <vt:lpstr>System Flowchart</vt:lpstr>
      <vt:lpstr>Results &amp; Screenshots</vt:lpstr>
      <vt:lpstr>Testing &amp; Validation</vt:lpstr>
      <vt:lpstr>Conclusion &amp; 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dc:creator>
  <cp:lastModifiedBy>priyanshurathore151@gmail.com</cp:lastModifiedBy>
  <cp:revision>385</cp:revision>
  <cp:lastPrinted>2020-10-04T13:07:41Z</cp:lastPrinted>
  <dcterms:created xsi:type="dcterms:W3CDTF">1601-01-01T00:00:00Z</dcterms:created>
  <dcterms:modified xsi:type="dcterms:W3CDTF">2026-04-19T05:55:59Z</dcterms:modified>
</cp:coreProperties>
</file>